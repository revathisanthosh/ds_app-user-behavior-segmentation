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3282B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3282B"/>
                </a:solidFill>
                <a:latin typeface="Arial"/>
              </a:rPr>
              <a:t>User Distribution by Segment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Users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2C39A"/>
              </a:solidFill>
              <a:effectLst/>
            </c:spPr>
          </c:dPt>
          <c:dPt>
            <c:idx val="1"/>
            <c:bubble3D val="0"/>
            <c:spPr>
              <a:solidFill>
                <a:srgbClr val="00A896"/>
              </a:solidFill>
              <a:effectLst/>
            </c:spPr>
          </c:dPt>
          <c:dPt>
            <c:idx val="2"/>
            <c:bubble3D val="0"/>
            <c:spPr>
              <a:solidFill>
                <a:srgbClr val="E4572E"/>
              </a:solidFill>
              <a:effectLst/>
            </c:spPr>
          </c:dPt>
          <c:dPt>
            <c:idx val="3"/>
            <c:bubble3D val="0"/>
            <c:spPr>
              <a:solidFill>
                <a:srgbClr val="8AA6A9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High Engagement</c:v>
                </c:pt>
                <c:pt idx="1">
                  <c:v>Moderate Engagement</c:v>
                </c:pt>
                <c:pt idx="2">
                  <c:v>Low Engagement / At-Risk</c:v>
                </c:pt>
                <c:pt idx="3">
                  <c:v>Occasional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10983</c:v>
                </c:pt>
                <c:pt idx="1">
                  <c:v>16517</c:v>
                </c:pt>
                <c:pt idx="2">
                  <c:v>14143</c:v>
                </c:pt>
                <c:pt idx="3">
                  <c:v>8357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3282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Avg. Engagement Score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3282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High Engagement</c:v>
                  </c:pt>
                  <c:pt idx="1">
                    <c:v>Moderate</c:v>
                  </c:pt>
                  <c:pt idx="2">
                    <c:v>Low / At-Risk</c:v>
                  </c:pt>
                  <c:pt idx="3">
                    <c:v>Occasional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87.15</c:v>
                </c:pt>
                <c:pt idx="1">
                  <c:v>59.86</c:v>
                </c:pt>
                <c:pt idx="2">
                  <c:v>27.16</c:v>
                </c:pt>
                <c:pt idx="3">
                  <c:v>15.52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Avg. Churn Risk Score</c:v>
                </c:pt>
              </c:strCache>
            </c:strRef>
          </c:tx>
          <c:spPr>
            <a:solidFill>
              <a:srgbClr val="E4572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3282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High Engagement</c:v>
                  </c:pt>
                  <c:pt idx="1">
                    <c:v>Moderate</c:v>
                  </c:pt>
                  <c:pt idx="2">
                    <c:v>Low / At-Risk</c:v>
                  </c:pt>
                  <c:pt idx="3">
                    <c:v>Occasional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8.72</c:v>
                </c:pt>
                <c:pt idx="1">
                  <c:v>27.91</c:v>
                </c:pt>
                <c:pt idx="2">
                  <c:v>66.74</c:v>
                </c:pt>
                <c:pt idx="3">
                  <c:v>54.75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3282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3282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EEE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17074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17074"/>
                    </a:solidFill>
                    <a:latin typeface="Arial"/>
                  </a:rPr>
                  <a:t>Score (0-100)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1707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13282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Weight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3282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Cluster Quality &amp; Separation</c:v>
                  </c:pt>
                  <c:pt idx="1">
                    <c:v>Data Quality &amp; Preprocessing</c:v>
                  </c:pt>
                  <c:pt idx="2">
                    <c:v>Cluster Interpretability</c:v>
                  </c:pt>
                  <c:pt idx="3">
                    <c:v>Business Relevance</c:v>
                  </c:pt>
                  <c:pt idx="4">
                    <c:v>Feature Selection &amp; Scaling</c:v>
                  </c:pt>
                  <c:pt idx="5">
                    <c:v>Scalability &amp; Performance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25</c:v>
                </c:pt>
                <c:pt idx="1">
                  <c:v>20</c:v>
                </c:pt>
                <c:pt idx="2">
                  <c:v>15</c:v>
                </c:pt>
                <c:pt idx="3">
                  <c:v>15</c:v>
                </c:pt>
                <c:pt idx="4">
                  <c:v>15</c:v>
                </c:pt>
                <c:pt idx="5">
                  <c:v>10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3282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13282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1707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0F3B41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34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GUVI × HCL  |  MINI-PROJECT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13232" y="1691640"/>
            <a:ext cx="9875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 User Behavior Segmentation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25146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Unsupervised Machine Learning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324612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overview and technical function flow for a K-Means clustering pipeline that segments app users into behavioral groups.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4160520"/>
            <a:ext cx="1421892" cy="384048"/>
          </a:xfrm>
          <a:prstGeom prst="roundRect">
            <a:avLst>
              <a:gd name="adj" fmla="val 50000"/>
            </a:avLst>
          </a:prstGeom>
          <a:solidFill>
            <a:srgbClr val="0F3B41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4160520"/>
            <a:ext cx="14218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6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318004" y="4160520"/>
            <a:ext cx="553212" cy="384048"/>
          </a:xfrm>
          <a:prstGeom prst="roundRect">
            <a:avLst>
              <a:gd name="adj" fmla="val 50000"/>
            </a:avLst>
          </a:prstGeom>
          <a:solidFill>
            <a:srgbClr val="0F3B41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18004" y="4160520"/>
            <a:ext cx="5532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6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035808" y="4160520"/>
            <a:ext cx="1943100" cy="384048"/>
          </a:xfrm>
          <a:prstGeom prst="roundRect">
            <a:avLst>
              <a:gd name="adj" fmla="val 50000"/>
            </a:avLst>
          </a:prstGeom>
          <a:solidFill>
            <a:srgbClr val="0F3B41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35808" y="4160520"/>
            <a:ext cx="19431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6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43500" y="4160520"/>
            <a:ext cx="900684" cy="384048"/>
          </a:xfrm>
          <a:prstGeom prst="roundRect">
            <a:avLst>
              <a:gd name="adj" fmla="val 50000"/>
            </a:avLst>
          </a:prstGeom>
          <a:solidFill>
            <a:srgbClr val="0F3B41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43500" y="4160520"/>
            <a:ext cx="9006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6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08776" y="4160520"/>
            <a:ext cx="553212" cy="384048"/>
          </a:xfrm>
          <a:prstGeom prst="roundRect">
            <a:avLst>
              <a:gd name="adj" fmla="val 50000"/>
            </a:avLst>
          </a:prstGeom>
          <a:solidFill>
            <a:srgbClr val="0F3B41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08776" y="4160520"/>
            <a:ext cx="5532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6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926580" y="4160520"/>
            <a:ext cx="1769364" cy="384048"/>
          </a:xfrm>
          <a:prstGeom prst="roundRect">
            <a:avLst>
              <a:gd name="adj" fmla="val 50000"/>
            </a:avLst>
          </a:prstGeom>
          <a:solidFill>
            <a:srgbClr val="0F3B41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26580" y="4160520"/>
            <a:ext cx="17693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6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Profiling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5989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B4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Domain: User Behavior Analytics  •  Machine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C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Understanding users without predefined labels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704088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5400000">
              <a:srgbClr val="1B3A3D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11096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1755648"/>
            <a:ext cx="62636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3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generate large volumes of user activity data, but understanding behavior without predefined labels is difficult.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68680" y="2990088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2834640"/>
            <a:ext cx="62636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3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analyzes app usage data with unsupervised machine learning to group users by similar behavior and engagement.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68680" y="4069080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3913632"/>
            <a:ext cx="62636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3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distinct segments highlights both high-engagement and at-risk users.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68680" y="5148072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4992624"/>
            <a:ext cx="62636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3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insights support better engagement strategies, retention planning, and overall product performance.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7818120" y="1508760"/>
            <a:ext cx="3794760" cy="4480560"/>
          </a:xfrm>
          <a:prstGeom prst="roundRect">
            <a:avLst>
              <a:gd name="adj" fmla="val 2892"/>
            </a:avLst>
          </a:prstGeom>
          <a:solidFill>
            <a:srgbClr val="0B2E33"/>
          </a:solidFill>
          <a:ln/>
        </p:spPr>
      </p:sp>
      <p:sp>
        <p:nvSpPr>
          <p:cNvPr id="14" name="Text 12"/>
          <p:cNvSpPr/>
          <p:nvPr/>
        </p:nvSpPr>
        <p:spPr>
          <a:xfrm>
            <a:off x="7818120" y="1874520"/>
            <a:ext cx="3794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50,000</a:t>
            </a:r>
            <a:endParaRPr lang="en-US" sz="4600" dirty="0"/>
          </a:p>
        </p:txBody>
      </p:sp>
      <p:sp>
        <p:nvSpPr>
          <p:cNvPr id="15" name="Text 13"/>
          <p:cNvSpPr/>
          <p:nvPr/>
        </p:nvSpPr>
        <p:spPr>
          <a:xfrm>
            <a:off x="7818120" y="260604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D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users analyzed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321040" y="3200400"/>
            <a:ext cx="2788920" cy="0"/>
          </a:xfrm>
          <a:prstGeom prst="line">
            <a:avLst/>
          </a:prstGeom>
          <a:noFill/>
          <a:ln w="12700">
            <a:solidFill>
              <a:srgbClr val="2E5D6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18120" y="3337560"/>
            <a:ext cx="3794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8092440" y="402336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9D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segments discovered — with zero labeled data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321040" y="4800600"/>
            <a:ext cx="2788920" cy="0"/>
          </a:xfrm>
          <a:prstGeom prst="line">
            <a:avLst/>
          </a:prstGeom>
          <a:noFill/>
          <a:ln w="12700">
            <a:solidFill>
              <a:srgbClr val="2E5D6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818120" y="4937760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0.51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8092440" y="553212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D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score — solid cluster cohesion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E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use cases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29584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1B3A3D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810512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8105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04672" y="24688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Targeted Marketing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04672" y="2852928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17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personalized campaigns based on engagement level to improve conversion rates.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34256" y="1554480"/>
            <a:ext cx="3529584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1B3A3D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90288" y="1810512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4590288" y="18105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90288" y="24688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Churn Risk &amp; Retention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90288" y="2852928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17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low-engagement, inactive users early and trigger offers, reminders, or onboarding help.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19872" y="1554480"/>
            <a:ext cx="3529584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1B3A3D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75904" y="1810512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8375904" y="18105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375904" y="24688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Personalized Experience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75904" y="2852928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17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Customize features, notifications, and recommendations per user segment.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977640"/>
            <a:ext cx="5468112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1B3A3D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4672" y="4178808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1" name="Text 19"/>
          <p:cNvSpPr/>
          <p:nvPr/>
        </p:nvSpPr>
        <p:spPr>
          <a:xfrm>
            <a:off x="804672" y="41788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417320" y="4160520"/>
            <a:ext cx="4370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Optimization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417320" y="4544568"/>
            <a:ext cx="43708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17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how different groups use features to prioritize the product roadmap.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72784" y="3977640"/>
            <a:ext cx="5468112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1B3A3D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528816" y="4178808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6" name="Text 24"/>
          <p:cNvSpPr/>
          <p:nvPr/>
        </p:nvSpPr>
        <p:spPr>
          <a:xfrm>
            <a:off x="6528816" y="41788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141464" y="4160520"/>
            <a:ext cx="4370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Data-Driven Decisions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141464" y="4544568"/>
            <a:ext cx="43708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17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product, support, and monetization strategy with behavior-based evidence.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E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FLOW — PART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data to model-ready features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1975104" cy="2331720"/>
          </a:xfrm>
          <a:prstGeom prst="roundRect">
            <a:avLst>
              <a:gd name="adj" fmla="val 4630"/>
            </a:avLst>
          </a:prstGeom>
          <a:solidFill>
            <a:srgbClr val="FFFFFF"/>
          </a:solidFill>
          <a:ln w="12700">
            <a:solidFill>
              <a:srgbClr val="E3F1EF"/>
            </a:solidFill>
            <a:prstDash val="solid"/>
          </a:ln>
          <a:effectLst>
            <a:outerShdw sx="100000" sy="100000" kx="0" ky="0" algn="bl" rotWithShape="0" blurRad="114300" dist="25400" dir="5400000">
              <a:srgbClr val="1B3A3D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80744" y="1581912"/>
            <a:ext cx="585216" cy="5852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1380744" y="158191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13816" y="2331720"/>
            <a:ext cx="17190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32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Collection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32104" y="2834640"/>
            <a:ext cx="1682496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17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Large-scale app-user dataset: demographics, device, engagement, sessions.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2702052" y="2930652"/>
            <a:ext cx="146304" cy="219456"/>
          </a:xfrm>
          <a:prstGeom prst="rightArrow">
            <a:avLst/>
          </a:prstGeom>
          <a:solidFill>
            <a:srgbClr val="00A896"/>
          </a:solidFill>
          <a:ln/>
        </p:spPr>
      </p:sp>
      <p:sp>
        <p:nvSpPr>
          <p:cNvPr id="10" name="Shape 8"/>
          <p:cNvSpPr/>
          <p:nvPr/>
        </p:nvSpPr>
        <p:spPr>
          <a:xfrm>
            <a:off x="2889504" y="1874520"/>
            <a:ext cx="1975104" cy="2331720"/>
          </a:xfrm>
          <a:prstGeom prst="roundRect">
            <a:avLst>
              <a:gd name="adj" fmla="val 4630"/>
            </a:avLst>
          </a:prstGeom>
          <a:solidFill>
            <a:srgbClr val="FFFFFF"/>
          </a:solidFill>
          <a:ln w="12700">
            <a:solidFill>
              <a:srgbClr val="E3F1EF"/>
            </a:solidFill>
            <a:prstDash val="solid"/>
          </a:ln>
          <a:effectLst>
            <a:outerShdw sx="100000" sy="100000" kx="0" ky="0" algn="bl" rotWithShape="0" blurRad="114300" dist="25400" dir="5400000">
              <a:srgbClr val="1B3A3D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84448" y="1581912"/>
            <a:ext cx="585216" cy="5852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3584448" y="158191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017520" y="2331720"/>
            <a:ext cx="17190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32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Understanding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035808" y="2834640"/>
            <a:ext cx="1682496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17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feature definitions, types, ranges, and overall quality.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4905756" y="2930652"/>
            <a:ext cx="146304" cy="219456"/>
          </a:xfrm>
          <a:prstGeom prst="rightArrow">
            <a:avLst/>
          </a:prstGeom>
          <a:solidFill>
            <a:srgbClr val="00A896"/>
          </a:solidFill>
          <a:ln/>
        </p:spPr>
      </p:sp>
      <p:sp>
        <p:nvSpPr>
          <p:cNvPr id="16" name="Shape 14"/>
          <p:cNvSpPr/>
          <p:nvPr/>
        </p:nvSpPr>
        <p:spPr>
          <a:xfrm>
            <a:off x="5093208" y="1874520"/>
            <a:ext cx="1975104" cy="2331720"/>
          </a:xfrm>
          <a:prstGeom prst="roundRect">
            <a:avLst>
              <a:gd name="adj" fmla="val 4630"/>
            </a:avLst>
          </a:prstGeom>
          <a:solidFill>
            <a:srgbClr val="FFFFFF"/>
          </a:solidFill>
          <a:ln w="12700">
            <a:solidFill>
              <a:srgbClr val="E3F1EF"/>
            </a:solidFill>
            <a:prstDash val="solid"/>
          </a:ln>
          <a:effectLst>
            <a:outerShdw sx="100000" sy="100000" kx="0" ky="0" algn="bl" rotWithShape="0" blurRad="114300" dist="25400" dir="5400000">
              <a:srgbClr val="1B3A3D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788152" y="1581912"/>
            <a:ext cx="585216" cy="5852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5788152" y="158191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221224" y="2331720"/>
            <a:ext cx="17190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32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239512" y="2834640"/>
            <a:ext cx="1682496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17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Impute missing values; enforce consistent numeric/categorical types.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7109460" y="2930652"/>
            <a:ext cx="146304" cy="219456"/>
          </a:xfrm>
          <a:prstGeom prst="rightArrow">
            <a:avLst/>
          </a:prstGeom>
          <a:solidFill>
            <a:srgbClr val="00A896"/>
          </a:solidFill>
          <a:ln/>
        </p:spPr>
      </p:sp>
      <p:sp>
        <p:nvSpPr>
          <p:cNvPr id="22" name="Shape 20"/>
          <p:cNvSpPr/>
          <p:nvPr/>
        </p:nvSpPr>
        <p:spPr>
          <a:xfrm>
            <a:off x="7296912" y="1874520"/>
            <a:ext cx="1975104" cy="2331720"/>
          </a:xfrm>
          <a:prstGeom prst="roundRect">
            <a:avLst>
              <a:gd name="adj" fmla="val 4630"/>
            </a:avLst>
          </a:prstGeom>
          <a:solidFill>
            <a:srgbClr val="FFFFFF"/>
          </a:solidFill>
          <a:ln w="12700">
            <a:solidFill>
              <a:srgbClr val="E3F1EF"/>
            </a:solidFill>
            <a:prstDash val="solid"/>
          </a:ln>
          <a:effectLst>
            <a:outerShdw sx="100000" sy="100000" kx="0" ky="0" algn="bl" rotWithShape="0" blurRad="114300" dist="25400" dir="5400000">
              <a:srgbClr val="1B3A3D">
                <a:alpha val="14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991856" y="1581912"/>
            <a:ext cx="585216" cy="5852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4" name="Text 22"/>
          <p:cNvSpPr/>
          <p:nvPr/>
        </p:nvSpPr>
        <p:spPr>
          <a:xfrm>
            <a:off x="7991856" y="158191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424928" y="2331720"/>
            <a:ext cx="17190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32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Selection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7443216" y="2834640"/>
            <a:ext cx="1682496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17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behavior-driving features: frequency, duration, engagement, activity.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9313164" y="2930652"/>
            <a:ext cx="146304" cy="219456"/>
          </a:xfrm>
          <a:prstGeom prst="rightArrow">
            <a:avLst/>
          </a:prstGeom>
          <a:solidFill>
            <a:srgbClr val="00A896"/>
          </a:solidFill>
          <a:ln/>
        </p:spPr>
      </p:sp>
      <p:sp>
        <p:nvSpPr>
          <p:cNvPr id="28" name="Shape 26"/>
          <p:cNvSpPr/>
          <p:nvPr/>
        </p:nvSpPr>
        <p:spPr>
          <a:xfrm>
            <a:off x="9500616" y="1874520"/>
            <a:ext cx="1975104" cy="2331720"/>
          </a:xfrm>
          <a:prstGeom prst="roundRect">
            <a:avLst>
              <a:gd name="adj" fmla="val 4630"/>
            </a:avLst>
          </a:prstGeom>
          <a:solidFill>
            <a:srgbClr val="FFFFFF"/>
          </a:solidFill>
          <a:ln w="12700">
            <a:solidFill>
              <a:srgbClr val="E3F1EF"/>
            </a:solidFill>
            <a:prstDash val="solid"/>
          </a:ln>
          <a:effectLst>
            <a:outerShdw sx="100000" sy="100000" kx="0" ky="0" algn="bl" rotWithShape="0" blurRad="114300" dist="25400" dir="5400000">
              <a:srgbClr val="1B3A3D">
                <a:alpha val="14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0195560" y="1581912"/>
            <a:ext cx="585216" cy="5852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0" name="Text 28"/>
          <p:cNvSpPr/>
          <p:nvPr/>
        </p:nvSpPr>
        <p:spPr>
          <a:xfrm>
            <a:off x="10195560" y="158191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9628632" y="2331720"/>
            <a:ext cx="17190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32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Scaling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9646920" y="2834640"/>
            <a:ext cx="1682496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17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normalizes features so each contributes equally.</a:t>
            </a:r>
            <a:endParaRPr lang="en-US" sz="1080" dirty="0"/>
          </a:p>
        </p:txBody>
      </p:sp>
      <p:sp>
        <p:nvSpPr>
          <p:cNvPr id="33" name="Text 31"/>
          <p:cNvSpPr/>
          <p:nvPr/>
        </p:nvSpPr>
        <p:spPr>
          <a:xfrm>
            <a:off x="685800" y="461772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17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1–5 prepare a clean, scaled feature matrix — the input every clustering step downstream depends on.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E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FLOW — PART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Modeling pipeline: from features to insight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1975104" cy="2788920"/>
          </a:xfrm>
          <a:prstGeom prst="roundRect">
            <a:avLst>
              <a:gd name="adj" fmla="val 4630"/>
            </a:avLst>
          </a:prstGeom>
          <a:solidFill>
            <a:srgbClr val="0F3B41"/>
          </a:solidFill>
          <a:ln w="12700">
            <a:solidFill>
              <a:srgbClr val="1D585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99032" y="169164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1399032" y="1691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95528" y="2350008"/>
            <a:ext cx="1755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Elbow Method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95528" y="2752344"/>
            <a:ext cx="1755648" cy="384048"/>
          </a:xfrm>
          <a:prstGeom prst="roundRect">
            <a:avLst>
              <a:gd name="adj" fmla="val 14286"/>
            </a:avLst>
          </a:prstGeom>
          <a:solidFill>
            <a:srgbClr val="0E2427"/>
          </a:solidFill>
          <a:ln/>
        </p:spPr>
      </p:sp>
      <p:sp>
        <p:nvSpPr>
          <p:cNvPr id="9" name="Text 7"/>
          <p:cNvSpPr/>
          <p:nvPr/>
        </p:nvSpPr>
        <p:spPr>
          <a:xfrm>
            <a:off x="795528" y="2752344"/>
            <a:ext cx="17556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E4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fit KMeans(k=2..8)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32104" y="3246120"/>
            <a:ext cx="1682496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CF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Sweep candidate k values, plot inertia, pick the elbow point.</a:t>
            </a:r>
            <a:endParaRPr lang="en-US" sz="1030" dirty="0"/>
          </a:p>
        </p:txBody>
      </p:sp>
      <p:sp>
        <p:nvSpPr>
          <p:cNvPr id="11" name="Shape 9"/>
          <p:cNvSpPr/>
          <p:nvPr/>
        </p:nvSpPr>
        <p:spPr>
          <a:xfrm>
            <a:off x="2702052" y="3250692"/>
            <a:ext cx="146304" cy="219456"/>
          </a:xfrm>
          <a:prstGeom prst="rightArrow">
            <a:avLst/>
          </a:prstGeom>
          <a:solidFill>
            <a:srgbClr val="00A896"/>
          </a:solidFill>
          <a:ln/>
        </p:spPr>
      </p:sp>
      <p:sp>
        <p:nvSpPr>
          <p:cNvPr id="12" name="Shape 10"/>
          <p:cNvSpPr/>
          <p:nvPr/>
        </p:nvSpPr>
        <p:spPr>
          <a:xfrm>
            <a:off x="2889504" y="1965960"/>
            <a:ext cx="1975104" cy="2788920"/>
          </a:xfrm>
          <a:prstGeom prst="roundRect">
            <a:avLst>
              <a:gd name="adj" fmla="val 4630"/>
            </a:avLst>
          </a:prstGeom>
          <a:solidFill>
            <a:srgbClr val="0F3B41"/>
          </a:solidFill>
          <a:ln w="12700">
            <a:solidFill>
              <a:srgbClr val="1D585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02736" y="169164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3602736" y="1691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999232" y="2350008"/>
            <a:ext cx="1755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Cluster Assignment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999232" y="2752344"/>
            <a:ext cx="1755648" cy="384048"/>
          </a:xfrm>
          <a:prstGeom prst="roundRect">
            <a:avLst>
              <a:gd name="adj" fmla="val 14286"/>
            </a:avLst>
          </a:prstGeom>
          <a:solidFill>
            <a:srgbClr val="0E2427"/>
          </a:solidFill>
          <a:ln/>
        </p:spPr>
      </p:sp>
      <p:sp>
        <p:nvSpPr>
          <p:cNvPr id="17" name="Text 15"/>
          <p:cNvSpPr/>
          <p:nvPr/>
        </p:nvSpPr>
        <p:spPr>
          <a:xfrm>
            <a:off x="2999232" y="2752344"/>
            <a:ext cx="17556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E4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KMeans(k=4).fit_predict()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035808" y="3246120"/>
            <a:ext cx="1682496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CF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final model; assign every user a cluster label.</a:t>
            </a:r>
            <a:endParaRPr lang="en-US" sz="1030" dirty="0"/>
          </a:p>
        </p:txBody>
      </p:sp>
      <p:sp>
        <p:nvSpPr>
          <p:cNvPr id="19" name="Shape 17"/>
          <p:cNvSpPr/>
          <p:nvPr/>
        </p:nvSpPr>
        <p:spPr>
          <a:xfrm>
            <a:off x="4905756" y="3250692"/>
            <a:ext cx="146304" cy="219456"/>
          </a:xfrm>
          <a:prstGeom prst="rightArrow">
            <a:avLst/>
          </a:prstGeom>
          <a:solidFill>
            <a:srgbClr val="00A896"/>
          </a:solidFill>
          <a:ln/>
        </p:spPr>
      </p:sp>
      <p:sp>
        <p:nvSpPr>
          <p:cNvPr id="20" name="Shape 18"/>
          <p:cNvSpPr/>
          <p:nvPr/>
        </p:nvSpPr>
        <p:spPr>
          <a:xfrm>
            <a:off x="5093208" y="1965960"/>
            <a:ext cx="1975104" cy="2788920"/>
          </a:xfrm>
          <a:prstGeom prst="roundRect">
            <a:avLst>
              <a:gd name="adj" fmla="val 4630"/>
            </a:avLst>
          </a:prstGeom>
          <a:solidFill>
            <a:srgbClr val="0F3B41"/>
          </a:solidFill>
          <a:ln w="12700">
            <a:solidFill>
              <a:srgbClr val="1D585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806440" y="169164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2" name="Text 20"/>
          <p:cNvSpPr/>
          <p:nvPr/>
        </p:nvSpPr>
        <p:spPr>
          <a:xfrm>
            <a:off x="5806440" y="1691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202936" y="2350008"/>
            <a:ext cx="1755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Dimensionality Reduction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202936" y="2752344"/>
            <a:ext cx="1755648" cy="384048"/>
          </a:xfrm>
          <a:prstGeom prst="roundRect">
            <a:avLst>
              <a:gd name="adj" fmla="val 14286"/>
            </a:avLst>
          </a:prstGeom>
          <a:solidFill>
            <a:srgbClr val="0E2427"/>
          </a:solidFill>
          <a:ln/>
        </p:spPr>
      </p:sp>
      <p:sp>
        <p:nvSpPr>
          <p:cNvPr id="25" name="Text 23"/>
          <p:cNvSpPr/>
          <p:nvPr/>
        </p:nvSpPr>
        <p:spPr>
          <a:xfrm>
            <a:off x="5202936" y="2752344"/>
            <a:ext cx="17556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E4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PCA(n=2).fit_transform()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239512" y="3246120"/>
            <a:ext cx="1682496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CF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scaled features to 2D and visualize cluster separation.</a:t>
            </a:r>
            <a:endParaRPr lang="en-US" sz="1030" dirty="0"/>
          </a:p>
        </p:txBody>
      </p:sp>
      <p:sp>
        <p:nvSpPr>
          <p:cNvPr id="27" name="Shape 25"/>
          <p:cNvSpPr/>
          <p:nvPr/>
        </p:nvSpPr>
        <p:spPr>
          <a:xfrm>
            <a:off x="7109460" y="3250692"/>
            <a:ext cx="146304" cy="219456"/>
          </a:xfrm>
          <a:prstGeom prst="rightArrow">
            <a:avLst/>
          </a:prstGeom>
          <a:solidFill>
            <a:srgbClr val="00A896"/>
          </a:solidFill>
          <a:ln/>
        </p:spPr>
      </p:sp>
      <p:sp>
        <p:nvSpPr>
          <p:cNvPr id="28" name="Shape 26"/>
          <p:cNvSpPr/>
          <p:nvPr/>
        </p:nvSpPr>
        <p:spPr>
          <a:xfrm>
            <a:off x="7296912" y="1965960"/>
            <a:ext cx="1975104" cy="2788920"/>
          </a:xfrm>
          <a:prstGeom prst="roundRect">
            <a:avLst>
              <a:gd name="adj" fmla="val 4630"/>
            </a:avLst>
          </a:prstGeom>
          <a:solidFill>
            <a:srgbClr val="0F3B41"/>
          </a:solidFill>
          <a:ln w="12700">
            <a:solidFill>
              <a:srgbClr val="1D585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010144" y="169164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0" name="Text 28"/>
          <p:cNvSpPr/>
          <p:nvPr/>
        </p:nvSpPr>
        <p:spPr>
          <a:xfrm>
            <a:off x="8010144" y="1691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7406640" y="2350008"/>
            <a:ext cx="1755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Cluster Profiling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7406640" y="2752344"/>
            <a:ext cx="1755648" cy="384048"/>
          </a:xfrm>
          <a:prstGeom prst="roundRect">
            <a:avLst>
              <a:gd name="adj" fmla="val 14286"/>
            </a:avLst>
          </a:prstGeom>
          <a:solidFill>
            <a:srgbClr val="0E2427"/>
          </a:solidFill>
          <a:ln/>
        </p:spPr>
      </p:sp>
      <p:sp>
        <p:nvSpPr>
          <p:cNvPr id="33" name="Text 31"/>
          <p:cNvSpPr/>
          <p:nvPr/>
        </p:nvSpPr>
        <p:spPr>
          <a:xfrm>
            <a:off x="7406640" y="2752344"/>
            <a:ext cx="17556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E4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groupby('cluster').mean()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443216" y="3246120"/>
            <a:ext cx="1682496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CF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per-cluster averages; label segments (High/Moderate/Low/Occasional).</a:t>
            </a:r>
            <a:endParaRPr lang="en-US" sz="1030" dirty="0"/>
          </a:p>
        </p:txBody>
      </p:sp>
      <p:sp>
        <p:nvSpPr>
          <p:cNvPr id="35" name="Shape 33"/>
          <p:cNvSpPr/>
          <p:nvPr/>
        </p:nvSpPr>
        <p:spPr>
          <a:xfrm>
            <a:off x="9313164" y="3250692"/>
            <a:ext cx="146304" cy="219456"/>
          </a:xfrm>
          <a:prstGeom prst="rightArrow">
            <a:avLst/>
          </a:prstGeom>
          <a:solidFill>
            <a:srgbClr val="00A896"/>
          </a:solidFill>
          <a:ln/>
        </p:spPr>
      </p:sp>
      <p:sp>
        <p:nvSpPr>
          <p:cNvPr id="36" name="Shape 34"/>
          <p:cNvSpPr/>
          <p:nvPr/>
        </p:nvSpPr>
        <p:spPr>
          <a:xfrm>
            <a:off x="9500616" y="1965960"/>
            <a:ext cx="1975104" cy="2788920"/>
          </a:xfrm>
          <a:prstGeom prst="roundRect">
            <a:avLst>
              <a:gd name="adj" fmla="val 4630"/>
            </a:avLst>
          </a:prstGeom>
          <a:solidFill>
            <a:srgbClr val="0F3B41"/>
          </a:solidFill>
          <a:ln w="12700">
            <a:solidFill>
              <a:srgbClr val="1D585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213848" y="169164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8" name="Text 36"/>
          <p:cNvSpPr/>
          <p:nvPr/>
        </p:nvSpPr>
        <p:spPr>
          <a:xfrm>
            <a:off x="10213848" y="1691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9610344" y="2350008"/>
            <a:ext cx="1755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 Generation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9610344" y="2752344"/>
            <a:ext cx="1755648" cy="384048"/>
          </a:xfrm>
          <a:prstGeom prst="roundRect">
            <a:avLst>
              <a:gd name="adj" fmla="val 14286"/>
            </a:avLst>
          </a:prstGeom>
          <a:solidFill>
            <a:srgbClr val="0E2427"/>
          </a:solidFill>
          <a:ln/>
        </p:spPr>
      </p:sp>
      <p:sp>
        <p:nvSpPr>
          <p:cNvPr id="41" name="Text 39"/>
          <p:cNvSpPr/>
          <p:nvPr/>
        </p:nvSpPr>
        <p:spPr>
          <a:xfrm>
            <a:off x="9610344" y="2752344"/>
            <a:ext cx="17556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E4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map(business_actions)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9646920" y="3246120"/>
            <a:ext cx="1682496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CF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retention/marketing actions to each segment; export user lists.</a:t>
            </a:r>
            <a:endParaRPr lang="en-US" sz="1030" dirty="0"/>
          </a:p>
        </p:txBody>
      </p:sp>
      <p:sp>
        <p:nvSpPr>
          <p:cNvPr id="43" name="Text 41"/>
          <p:cNvSpPr/>
          <p:nvPr/>
        </p:nvSpPr>
        <p:spPr>
          <a:xfrm>
            <a:off x="685800" y="507492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9FC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a fully labeled dataset (user_id → segment) plus per-segment CSVs, ready for dashboards or CRM targeting.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C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behavioral segments, 50,000 users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08760"/>
          <a:ext cx="51206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89320" y="1828800"/>
          <a:ext cx="5623560" cy="2377440"/>
        </p:xfrm>
        <a:graphic>
          <a:graphicData uri="http://schemas.openxmlformats.org/drawingml/2006/table">
            <a:tbl>
              <a:tblPr/>
              <a:tblGrid>
                <a:gridCol w="1965960"/>
                <a:gridCol w="1097280"/>
                <a:gridCol w="1280160"/>
                <a:gridCol w="128016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Avg. Engagement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Avg. Churn Risk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3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Engagement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3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10,983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3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3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3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 Engagement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3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16,517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3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59.9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3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3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Engagement / At-Risk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3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14,143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3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3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3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Occasional Users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3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8,357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3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3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54.8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F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989320" y="4434840"/>
            <a:ext cx="5623560" cy="1463040"/>
          </a:xfrm>
          <a:prstGeom prst="roundRect">
            <a:avLst>
              <a:gd name="adj" fmla="val 6250"/>
            </a:avLst>
          </a:prstGeom>
          <a:solidFill>
            <a:srgbClr val="0B2E33"/>
          </a:solidFill>
          <a:ln/>
        </p:spPr>
      </p:sp>
      <p:sp>
        <p:nvSpPr>
          <p:cNvPr id="7" name="Text 3"/>
          <p:cNvSpPr/>
          <p:nvPr/>
        </p:nvSpPr>
        <p:spPr>
          <a:xfrm>
            <a:off x="6263640" y="4553712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Read: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9E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and churn move in opposite directions across segments — the clusters cleanly separate healthy users from at-risk ones, which is exactly the signal retention teams need.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E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Engagement vs. churn risk, by segment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110642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89788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17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scores are on a 0-100 scale. As engagement falls, churn risk rises almost in lockstep — the clearest cut is between Moderate and Low/At-Risk users.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E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CLUSTERS TO ACTION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insight &amp; action mapping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24328" cy="2788920"/>
          </a:xfrm>
          <a:prstGeom prst="roundRect">
            <a:avLst>
              <a:gd name="adj" fmla="val 41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1B3A3D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801368"/>
            <a:ext cx="2295144" cy="658368"/>
          </a:xfrm>
          <a:prstGeom prst="roundRect">
            <a:avLst>
              <a:gd name="adj" fmla="val 11111"/>
            </a:avLst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819656"/>
            <a:ext cx="21854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 Engagement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68096" y="2130552"/>
            <a:ext cx="21854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B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10,983 users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651760"/>
            <a:ext cx="2258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17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2971800"/>
            <a:ext cx="2258568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3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programs, premium upsells, referral incentives — protect and reward your best users.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74136" y="1600200"/>
            <a:ext cx="2624328" cy="2788920"/>
          </a:xfrm>
          <a:prstGeom prst="roundRect">
            <a:avLst>
              <a:gd name="adj" fmla="val 41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1B3A3D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38728" y="1801368"/>
            <a:ext cx="2295144" cy="658368"/>
          </a:xfrm>
          <a:prstGeom prst="roundRect">
            <a:avLst>
              <a:gd name="adj" fmla="val 11111"/>
            </a:avLst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3593592" y="1819656"/>
            <a:ext cx="21854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Moderate Engagement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93592" y="2130552"/>
            <a:ext cx="21854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B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16,517 users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557016" y="2651760"/>
            <a:ext cx="2258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17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557016" y="2971800"/>
            <a:ext cx="2258568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3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nudges and feature recommendations to move users toward high engagement.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99632" y="1600200"/>
            <a:ext cx="2624328" cy="2788920"/>
          </a:xfrm>
          <a:prstGeom prst="roundRect">
            <a:avLst>
              <a:gd name="adj" fmla="val 41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1B3A3D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64224" y="1801368"/>
            <a:ext cx="2295144" cy="658368"/>
          </a:xfrm>
          <a:prstGeom prst="roundRect">
            <a:avLst>
              <a:gd name="adj" fmla="val 11111"/>
            </a:avLst>
          </a:prstGeom>
          <a:solidFill>
            <a:srgbClr val="E4572E"/>
          </a:solidFill>
          <a:ln/>
        </p:spPr>
      </p:sp>
      <p:sp>
        <p:nvSpPr>
          <p:cNvPr id="18" name="Text 16"/>
          <p:cNvSpPr/>
          <p:nvPr/>
        </p:nvSpPr>
        <p:spPr>
          <a:xfrm>
            <a:off x="6419088" y="1819656"/>
            <a:ext cx="21854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 Engagement / At-Risk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19088" y="2130552"/>
            <a:ext cx="21854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B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14,143 users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82512" y="2651760"/>
            <a:ext cx="2258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17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382512" y="2971800"/>
            <a:ext cx="2258568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3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retention: win-back offers, reminders, improved onboarding to reduce churn.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025128" y="1600200"/>
            <a:ext cx="2624328" cy="2788920"/>
          </a:xfrm>
          <a:prstGeom prst="roundRect">
            <a:avLst>
              <a:gd name="adj" fmla="val 41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1B3A3D">
                <a:alpha val="1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189720" y="1801368"/>
            <a:ext cx="2295144" cy="658368"/>
          </a:xfrm>
          <a:prstGeom prst="roundRect">
            <a:avLst>
              <a:gd name="adj" fmla="val 11111"/>
            </a:avLst>
          </a:prstGeom>
          <a:solidFill>
            <a:srgbClr val="5C7A80"/>
          </a:solidFill>
          <a:ln/>
        </p:spPr>
      </p:sp>
      <p:sp>
        <p:nvSpPr>
          <p:cNvPr id="24" name="Text 22"/>
          <p:cNvSpPr/>
          <p:nvPr/>
        </p:nvSpPr>
        <p:spPr>
          <a:xfrm>
            <a:off x="9244584" y="1819656"/>
            <a:ext cx="21854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Occasional Users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244584" y="2130552"/>
            <a:ext cx="21854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B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8,357 users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208008" y="2651760"/>
            <a:ext cx="2258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17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208008" y="2971800"/>
            <a:ext cx="2258568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3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Re-engagement pushes tied to relevant triggers to bring sporadic users back.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4645152"/>
            <a:ext cx="10744200" cy="914400"/>
          </a:xfrm>
          <a:prstGeom prst="roundRect">
            <a:avLst>
              <a:gd name="adj" fmla="val 10000"/>
            </a:avLst>
          </a:prstGeom>
          <a:solidFill>
            <a:srgbClr val="E3F1EF"/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" y="4645152"/>
            <a:ext cx="10195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13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Together, </a:t>
            </a:r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517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four playbooks replace one generic campaign with four targeted ones — the direct payoff of unsupervised segmentation.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E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evaluation metrics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64922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315200" y="1554480"/>
            <a:ext cx="4297680" cy="4480560"/>
          </a:xfrm>
          <a:prstGeom prst="roundRect">
            <a:avLst>
              <a:gd name="adj" fmla="val 2553"/>
            </a:avLst>
          </a:prstGeom>
          <a:solidFill>
            <a:srgbClr val="0B2E33"/>
          </a:solidFill>
          <a:ln/>
        </p:spPr>
      </p:sp>
      <p:sp>
        <p:nvSpPr>
          <p:cNvPr id="6" name="Text 3"/>
          <p:cNvSpPr/>
          <p:nvPr/>
        </p:nvSpPr>
        <p:spPr>
          <a:xfrm>
            <a:off x="7589520" y="17830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it's judged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7589520" y="2304288"/>
            <a:ext cx="82296" cy="822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0" y="2167128"/>
            <a:ext cx="3611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D9E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Quality (25%) — how well users group by behavioral similarity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7589520" y="2926080"/>
            <a:ext cx="82296" cy="822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0" y="2788920"/>
            <a:ext cx="3611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D9E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(20%) — how cleanly missing/inconsistent values were handled</a:t>
            </a:r>
            <a:endParaRPr lang="en-US" sz="1080" dirty="0"/>
          </a:p>
        </p:txBody>
      </p:sp>
      <p:sp>
        <p:nvSpPr>
          <p:cNvPr id="11" name="Shape 8"/>
          <p:cNvSpPr/>
          <p:nvPr/>
        </p:nvSpPr>
        <p:spPr>
          <a:xfrm>
            <a:off x="7589520" y="3547872"/>
            <a:ext cx="82296" cy="822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9"/>
          <p:cNvSpPr/>
          <p:nvPr/>
        </p:nvSpPr>
        <p:spPr>
          <a:xfrm>
            <a:off x="7772400" y="3410712"/>
            <a:ext cx="3611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D9E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Interpretability (15%) — how clearly each segment can be explained</a:t>
            </a:r>
            <a:endParaRPr lang="en-US" sz="1080" dirty="0"/>
          </a:p>
        </p:txBody>
      </p:sp>
      <p:sp>
        <p:nvSpPr>
          <p:cNvPr id="13" name="Shape 10"/>
          <p:cNvSpPr/>
          <p:nvPr/>
        </p:nvSpPr>
        <p:spPr>
          <a:xfrm>
            <a:off x="7589520" y="4169664"/>
            <a:ext cx="82296" cy="822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4" name="Text 11"/>
          <p:cNvSpPr/>
          <p:nvPr/>
        </p:nvSpPr>
        <p:spPr>
          <a:xfrm>
            <a:off x="7772400" y="4032504"/>
            <a:ext cx="3611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D9E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Relevance (15%) — usefulness for retention &amp; personalization</a:t>
            </a:r>
            <a:endParaRPr lang="en-US" sz="1080" dirty="0"/>
          </a:p>
        </p:txBody>
      </p:sp>
      <p:sp>
        <p:nvSpPr>
          <p:cNvPr id="15" name="Shape 12"/>
          <p:cNvSpPr/>
          <p:nvPr/>
        </p:nvSpPr>
        <p:spPr>
          <a:xfrm>
            <a:off x="7589520" y="4791456"/>
            <a:ext cx="82296" cy="822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3"/>
          <p:cNvSpPr/>
          <p:nvPr/>
        </p:nvSpPr>
        <p:spPr>
          <a:xfrm>
            <a:off x="7772400" y="4654296"/>
            <a:ext cx="3611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D9E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 (15%) — relevance of features and correct scaling</a:t>
            </a:r>
            <a:endParaRPr lang="en-US" sz="1080" dirty="0"/>
          </a:p>
        </p:txBody>
      </p:sp>
      <p:sp>
        <p:nvSpPr>
          <p:cNvPr id="17" name="Shape 14"/>
          <p:cNvSpPr/>
          <p:nvPr/>
        </p:nvSpPr>
        <p:spPr>
          <a:xfrm>
            <a:off x="7589520" y="5413248"/>
            <a:ext cx="82296" cy="822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8" name="Text 15"/>
          <p:cNvSpPr/>
          <p:nvPr/>
        </p:nvSpPr>
        <p:spPr>
          <a:xfrm>
            <a:off x="7772400" y="5276088"/>
            <a:ext cx="3611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D9E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(10%) — efficiency on large datasets</a:t>
            </a:r>
            <a:endParaRPr lang="en-US" sz="1080" dirty="0"/>
          </a:p>
        </p:txBody>
      </p:sp>
      <p:sp>
        <p:nvSpPr>
          <p:cNvPr id="19" name="Text 16"/>
          <p:cNvSpPr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E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4206240"/>
            <a:ext cx="4754880" cy="4754880"/>
          </a:xfrm>
          <a:prstGeom prst="ellipse">
            <a:avLst/>
          </a:prstGeom>
          <a:solidFill>
            <a:srgbClr val="0F3B4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scalable, real-world-ready segmentation pipeline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85800" y="1965960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9659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34440" y="1911096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3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Segmented 50,000 users into 4 clusters using K-Means — with no labeled target variable.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85800" y="2834640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8346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34440" y="2779776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3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confirms clear behavioral separation; silhouette score of 0.51 indicates solid cluster cohesion.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85800" y="3703320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37033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34440" y="3648456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3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user is mapped to a segment, enabling exact customer-level targeting instead of generic campaigns.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85800" y="4572000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45720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34440" y="4517136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3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are dashboard- and CRM-ready: labeled dataset plus per-segment user lists for immediate action.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85800" y="58064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FB4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Deliverables: executed Jupyter notebook • labeled dataset • this deck • project documentation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C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2026-08-21T05:24:46Z</dcterms:created>
  <dcterms:modified xsi:type="dcterms:W3CDTF">2026-08-21T05:24:46Z</dcterms:modified>
</cp:coreProperties>
</file>